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60" r:id="rId5"/>
    <p:sldId id="261" r:id="rId6"/>
    <p:sldId id="262" r:id="rId7"/>
    <p:sldId id="287" r:id="rId8"/>
    <p:sldId id="263" r:id="rId9"/>
    <p:sldId id="288" r:id="rId10"/>
    <p:sldId id="265" r:id="rId11"/>
    <p:sldId id="266" r:id="rId12"/>
    <p:sldId id="268" r:id="rId13"/>
    <p:sldId id="269" r:id="rId14"/>
    <p:sldId id="286" r:id="rId15"/>
    <p:sldId id="283" r:id="rId16"/>
    <p:sldId id="273" r:id="rId17"/>
    <p:sldId id="275" r:id="rId18"/>
    <p:sldId id="281" r:id="rId19"/>
    <p:sldId id="280" r:id="rId20"/>
    <p:sldId id="259" r:id="rId21"/>
  </p:sldIdLst>
  <p:sldSz cx="12192000" cy="6858000"/>
  <p:notesSz cx="6858000" cy="9144000"/>
  <p:embeddedFontLst>
    <p:embeddedFont>
      <p:font typeface="Lato Black" panose="020F0502020204030203" pitchFamily="34" charset="0"/>
      <p:bold r:id="rId23"/>
      <p:boldItalic r:id="rId24"/>
    </p:embeddedFont>
    <p:embeddedFont>
      <p:font typeface="Libre Baskerville"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korrawath-sanjay-kumar-711b2b414/"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sanjaykorrawath96-sy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91783"/>
            <a:ext cx="12190815" cy="6694098"/>
          </a:xfrm>
          <a:prstGeom prst="rect">
            <a:avLst/>
          </a:prstGeom>
          <a:noFill/>
          <a:ln>
            <a:noFill/>
          </a:ln>
        </p:spPr>
      </p:pic>
      <p:sp>
        <p:nvSpPr>
          <p:cNvPr id="99" name="Google Shape;99;p1"/>
          <p:cNvSpPr txBox="1"/>
          <p:nvPr/>
        </p:nvSpPr>
        <p:spPr>
          <a:xfrm>
            <a:off x="2472905" y="3580334"/>
            <a:ext cx="7246189" cy="1077178"/>
          </a:xfrm>
          <a:prstGeom prst="rect">
            <a:avLst/>
          </a:prstGeom>
          <a:noFill/>
          <a:ln>
            <a:noFill/>
          </a:ln>
        </p:spPr>
        <p:txBody>
          <a:bodyPr spcFirstLastPara="1" wrap="square" lIns="91425" tIns="45700" rIns="91425" bIns="45700" anchor="t" anchorCtr="0">
            <a:spAutoFit/>
          </a:bodyPr>
          <a:lstStyle/>
          <a:p>
            <a:pPr lvl="0" algn="ctr">
              <a:buSzPts val="1800"/>
            </a:pPr>
            <a:r>
              <a:rPr lang="en-IN" sz="3200" b="1" dirty="0"/>
              <a:t>Grocery Store Management</a:t>
            </a:r>
            <a:br>
              <a:rPr lang="en-IN" sz="3200" b="1" u="sng" dirty="0"/>
            </a:br>
            <a:endParaRPr sz="32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0BA2DC60-393F-9FE0-5E6E-DB16D1A5B10D}"/>
              </a:ext>
            </a:extLst>
          </p:cNvPr>
          <p:cNvSpPr txBox="1"/>
          <p:nvPr/>
        </p:nvSpPr>
        <p:spPr>
          <a:xfrm>
            <a:off x="8005010" y="4793450"/>
            <a:ext cx="4186990" cy="1754326"/>
          </a:xfrm>
          <a:prstGeom prst="rect">
            <a:avLst/>
          </a:prstGeom>
          <a:noFill/>
        </p:spPr>
        <p:txBody>
          <a:bodyPr wrap="square" rtlCol="0">
            <a:spAutoFit/>
          </a:bodyPr>
          <a:lstStyle/>
          <a:p>
            <a:r>
              <a:rPr lang="en-US" sz="1800" b="1" dirty="0"/>
              <a:t>Batch 533</a:t>
            </a:r>
          </a:p>
          <a:p>
            <a:r>
              <a:rPr lang="en-US" sz="1800" b="1" dirty="0"/>
              <a:t>K. Sanjay Kumar</a:t>
            </a:r>
          </a:p>
          <a:p>
            <a:endParaRPr lang="en-US" sz="1800" b="1" dirty="0"/>
          </a:p>
          <a:p>
            <a:r>
              <a:rPr lang="en-US" sz="1800" b="1" dirty="0"/>
              <a:t>Batch 536</a:t>
            </a:r>
          </a:p>
          <a:p>
            <a:r>
              <a:rPr lang="en-US" sz="1800" b="1" dirty="0"/>
              <a:t>P. Meghna</a:t>
            </a:r>
          </a:p>
          <a:p>
            <a:endParaRPr lang="en-IN"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1" y="1299172"/>
            <a:ext cx="11277725" cy="4893607"/>
          </a:xfrm>
          <a:prstGeom prst="rect">
            <a:avLst/>
          </a:prstGeom>
          <a:noFill/>
          <a:ln>
            <a:noFill/>
          </a:ln>
        </p:spPr>
        <p:txBody>
          <a:bodyPr spcFirstLastPara="1" wrap="square" lIns="91425" tIns="45700" rIns="91425" bIns="45700" anchor="t" anchorCtr="0">
            <a:spAutoFit/>
          </a:bodyPr>
          <a:lstStyle/>
          <a:p>
            <a:r>
              <a:rPr lang="en-IN" sz="2400" b="1" dirty="0"/>
              <a:t>    K. Sanjay Kumar</a:t>
            </a:r>
          </a:p>
          <a:p>
            <a:pPr marL="342900" indent="-342900">
              <a:buFont typeface="Arial" panose="020B0604020202020204" pitchFamily="34" charset="0"/>
              <a:buChar char="•"/>
            </a:pPr>
            <a:r>
              <a:rPr lang="en-IN" sz="2400" dirty="0" err="1"/>
              <a:t>Btech</a:t>
            </a:r>
            <a:r>
              <a:rPr lang="en-IN" sz="2400" dirty="0"/>
              <a:t>(Civil) from Anurag Group of Institutions </a:t>
            </a:r>
          </a:p>
          <a:p>
            <a:pPr marL="342900" indent="-342900">
              <a:buFont typeface="Arial" panose="020B0604020202020204" pitchFamily="34" charset="0"/>
              <a:buChar char="•"/>
            </a:pPr>
            <a:r>
              <a:rPr lang="en-US" sz="2400" dirty="0"/>
              <a:t>Interested in Data Analytics to analyze data, solve real-world problems, and make smart decisions using technology</a:t>
            </a:r>
          </a:p>
          <a:p>
            <a:pPr marL="342900" indent="-342900">
              <a:buFont typeface="Arial" panose="020B0604020202020204" pitchFamily="34" charset="0"/>
              <a:buChar char="•"/>
            </a:pPr>
            <a:r>
              <a:rPr lang="en-IN" sz="2400" dirty="0"/>
              <a:t>LinkedIn: </a:t>
            </a:r>
            <a:r>
              <a:rPr lang="en-IN" sz="2400" dirty="0">
                <a:hlinkClick r:id="rId3"/>
              </a:rPr>
              <a:t>https://www.linkedin.com/in/korrawath-sanjay-kumar-711b2b414/</a:t>
            </a:r>
            <a:endParaRPr lang="en-IN" sz="2400" dirty="0"/>
          </a:p>
          <a:p>
            <a:pPr marL="342900" indent="-342900">
              <a:buFont typeface="Arial" panose="020B0604020202020204" pitchFamily="34" charset="0"/>
              <a:buChar char="•"/>
            </a:pPr>
            <a:r>
              <a:rPr lang="en-IN" sz="2400" dirty="0"/>
              <a:t>GitHub: </a:t>
            </a:r>
            <a:r>
              <a:rPr lang="en-IN" sz="2400" dirty="0">
                <a:hlinkClick r:id="rId4"/>
              </a:rPr>
              <a:t>https://github.com/sanjaykorrawath96-sys</a:t>
            </a:r>
            <a:endParaRPr lang="en-IN" sz="2400" dirty="0"/>
          </a:p>
          <a:p>
            <a:endParaRPr lang="en-IN" sz="2400" dirty="0"/>
          </a:p>
          <a:p>
            <a:r>
              <a:rPr lang="en-IN" sz="2400" b="1" dirty="0"/>
              <a:t>    P. Meghna Reddy</a:t>
            </a:r>
          </a:p>
          <a:p>
            <a:pPr marL="342900" indent="-342900">
              <a:buFont typeface="Arial" panose="020B0604020202020204" pitchFamily="34" charset="0"/>
              <a:buChar char="•"/>
            </a:pPr>
            <a:r>
              <a:rPr lang="en-IN" sz="2400" dirty="0" err="1"/>
              <a:t>B.Tech</a:t>
            </a:r>
            <a:r>
              <a:rPr lang="en-IN" sz="2400" dirty="0"/>
              <a:t> (IT) from Sreenidhi Institute of Science and Technology</a:t>
            </a:r>
          </a:p>
          <a:p>
            <a:pPr marL="342900" indent="-342900">
              <a:buFont typeface="Arial" panose="020B0604020202020204" pitchFamily="34" charset="0"/>
              <a:buChar char="•"/>
            </a:pPr>
            <a:r>
              <a:rPr lang="en-US" sz="2400" dirty="0"/>
              <a:t>Interested in Data Analytics because it combines programming, analytics, and business insights to create impactful solutions</a:t>
            </a:r>
            <a:endParaRPr lang="en-IN" sz="2400" dirty="0"/>
          </a:p>
          <a:p>
            <a:pPr marL="342900" indent="-342900">
              <a:buFont typeface="Arial" panose="020B0604020202020204" pitchFamily="34" charset="0"/>
              <a:buChar char="•"/>
            </a:pPr>
            <a:r>
              <a:rPr lang="en-IN" sz="2400" dirty="0"/>
              <a:t>LinkedIn: </a:t>
            </a:r>
            <a:r>
              <a:rPr lang="en-IN" sz="2400" u="sng" dirty="0">
                <a:solidFill>
                  <a:schemeClr val="accent1"/>
                </a:solidFill>
              </a:rPr>
              <a:t>linkedin.com/in/meghna-</a:t>
            </a:r>
            <a:r>
              <a:rPr lang="en-IN" sz="2400" u="sng" dirty="0" err="1">
                <a:solidFill>
                  <a:schemeClr val="accent1"/>
                </a:solidFill>
              </a:rPr>
              <a:t>palwai</a:t>
            </a:r>
            <a:endParaRPr lang="en-IN" sz="2400" u="sng" dirty="0">
              <a:solidFill>
                <a:schemeClr val="accent1"/>
              </a:solidFill>
            </a:endParaRPr>
          </a:p>
          <a:p>
            <a:pPr marL="342900" indent="-342900">
              <a:buFont typeface="Arial" panose="020B0604020202020204" pitchFamily="34" charset="0"/>
              <a:buChar char="•"/>
            </a:pPr>
            <a:r>
              <a:rPr lang="en-IN" sz="2400" dirty="0"/>
              <a:t>GitHub: </a:t>
            </a:r>
            <a:r>
              <a:rPr lang="en-IN" sz="2400" u="sng" dirty="0">
                <a:solidFill>
                  <a:schemeClr val="accent1"/>
                </a:solidFill>
              </a:rPr>
              <a:t>github.com/palwaimeghna11</a:t>
            </a:r>
          </a:p>
        </p:txBody>
      </p:sp>
      <p:sp>
        <p:nvSpPr>
          <p:cNvPr id="105" name="Google Shape;105;p3"/>
          <p:cNvSpPr txBox="1"/>
          <p:nvPr/>
        </p:nvSpPr>
        <p:spPr>
          <a:xfrm>
            <a:off x="427656" y="416554"/>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US" sz="2400" b="1" dirty="0"/>
              <a:t>Business Problem</a:t>
            </a:r>
            <a:endParaRPr sz="2400" dirty="0"/>
          </a:p>
          <a:p>
            <a:pPr marL="457200" lvl="0" indent="-431800" algn="l" rtl="0">
              <a:lnSpc>
                <a:spcPct val="90000"/>
              </a:lnSpc>
              <a:spcBef>
                <a:spcPts val="1000"/>
              </a:spcBef>
              <a:spcAft>
                <a:spcPts val="0"/>
              </a:spcAft>
              <a:buSzPts val="2400"/>
              <a:buChar char="•"/>
            </a:pPr>
            <a:r>
              <a:rPr lang="en-US" sz="2400" b="1" dirty="0"/>
              <a:t>Problem Statement</a:t>
            </a:r>
            <a:endParaRPr sz="2400" dirty="0"/>
          </a:p>
          <a:p>
            <a:pPr marL="457200" lvl="0" indent="-431800" algn="l" rtl="0">
              <a:lnSpc>
                <a:spcPct val="90000"/>
              </a:lnSpc>
              <a:spcBef>
                <a:spcPts val="1000"/>
              </a:spcBef>
              <a:spcAft>
                <a:spcPts val="0"/>
              </a:spcAft>
              <a:buSzPts val="2400"/>
              <a:buChar char="•"/>
            </a:pPr>
            <a:r>
              <a:rPr lang="en-US" sz="2400" b="1" dirty="0"/>
              <a:t>Objective</a:t>
            </a:r>
          </a:p>
          <a:p>
            <a:pPr marL="457200" lvl="0" indent="-431800" algn="l" rtl="0">
              <a:lnSpc>
                <a:spcPct val="90000"/>
              </a:lnSpc>
              <a:spcBef>
                <a:spcPts val="1000"/>
              </a:spcBef>
              <a:spcAft>
                <a:spcPts val="0"/>
              </a:spcAft>
              <a:buSzPts val="2400"/>
              <a:buChar char="•"/>
            </a:pPr>
            <a:r>
              <a:rPr lang="en-US" sz="2400" b="1" dirty="0"/>
              <a:t>Introduction</a:t>
            </a:r>
            <a:endParaRPr sz="2400" dirty="0"/>
          </a:p>
          <a:p>
            <a:pPr marL="457200" lvl="0" indent="-431800" algn="l" rtl="0">
              <a:lnSpc>
                <a:spcPct val="90000"/>
              </a:lnSpc>
              <a:spcBef>
                <a:spcPts val="1000"/>
              </a:spcBef>
              <a:spcAft>
                <a:spcPts val="0"/>
              </a:spcAft>
              <a:buSzPts val="2400"/>
              <a:buChar char="•"/>
            </a:pPr>
            <a:r>
              <a:rPr lang="en-US" sz="2400" b="1" dirty="0"/>
              <a:t>Data Description (Data Schema Description, ER Diagram, Cardinalities)</a:t>
            </a:r>
            <a:endParaRPr sz="2400" dirty="0"/>
          </a:p>
          <a:p>
            <a:pPr marL="457200" lvl="0" indent="-431800" algn="l" rtl="0">
              <a:lnSpc>
                <a:spcPct val="90000"/>
              </a:lnSpc>
              <a:spcBef>
                <a:spcPts val="1000"/>
              </a:spcBef>
              <a:spcAft>
                <a:spcPts val="0"/>
              </a:spcAft>
              <a:buSzPts val="2400"/>
              <a:buChar char="•"/>
            </a:pPr>
            <a:r>
              <a:rPr lang="en-IN" sz="2400" b="1" dirty="0"/>
              <a:t>Queries</a:t>
            </a:r>
          </a:p>
          <a:p>
            <a:pPr marL="457200" lvl="0" indent="-431800" algn="l" rtl="0">
              <a:lnSpc>
                <a:spcPct val="90000"/>
              </a:lnSpc>
              <a:spcBef>
                <a:spcPts val="1000"/>
              </a:spcBef>
              <a:spcAft>
                <a:spcPts val="0"/>
              </a:spcAft>
              <a:buSzPts val="2400"/>
              <a:buChar char="•"/>
            </a:pPr>
            <a:r>
              <a:rPr lang="en-IN" sz="2400" b="1" dirty="0"/>
              <a:t>Conclusion</a:t>
            </a:r>
          </a:p>
          <a:p>
            <a:pPr marL="457200" lvl="0" indent="-431800" algn="l" rtl="0">
              <a:lnSpc>
                <a:spcPct val="90000"/>
              </a:lnSpc>
              <a:spcBef>
                <a:spcPts val="1000"/>
              </a:spcBef>
              <a:spcAft>
                <a:spcPts val="0"/>
              </a:spcAft>
              <a:buSzPts val="2400"/>
              <a:buChar char="•"/>
            </a:pPr>
            <a:r>
              <a:rPr lang="en-IN" sz="2400" b="1" dirty="0"/>
              <a:t>Recommendation</a:t>
            </a:r>
          </a:p>
          <a:p>
            <a:pPr marL="457200" lvl="0" indent="-431800" algn="l" rtl="0">
              <a:lnSpc>
                <a:spcPct val="90000"/>
              </a:lnSpc>
              <a:spcBef>
                <a:spcPts val="1000"/>
              </a:spcBef>
              <a:spcAft>
                <a:spcPts val="0"/>
              </a:spcAft>
              <a:buSzPts val="2400"/>
              <a:buChar char="•"/>
            </a:pPr>
            <a:r>
              <a:rPr lang="en-IN" sz="2400" b="1" dirty="0"/>
              <a:t>Q/A</a:t>
            </a:r>
          </a:p>
          <a:p>
            <a:pPr lvl="0" indent="-431800">
              <a:buSzPts val="2400"/>
            </a:pPr>
            <a:r>
              <a:rPr lang="en-IN" sz="2400" b="1" dirty="0"/>
              <a:t>Thank you</a:t>
            </a:r>
            <a:endParaRPr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7A20A-2D20-34B7-FEB0-BBBC6493D15A}"/>
              </a:ext>
            </a:extLst>
          </p:cNvPr>
          <p:cNvSpPr>
            <a:spLocks noGrp="1"/>
          </p:cNvSpPr>
          <p:nvPr>
            <p:ph type="title"/>
          </p:nvPr>
        </p:nvSpPr>
        <p:spPr/>
        <p:txBody>
          <a:bodyPr/>
          <a:lstStyle/>
          <a:p>
            <a:r>
              <a:rPr lang="en-US" b="1" dirty="0">
                <a:solidFill>
                  <a:srgbClr val="FF0000"/>
                </a:solidFill>
              </a:rPr>
              <a:t>Business Problem</a:t>
            </a:r>
            <a:endParaRPr lang="en-IN" b="1" dirty="0">
              <a:solidFill>
                <a:srgbClr val="FF0000"/>
              </a:solidFill>
            </a:endParaRPr>
          </a:p>
        </p:txBody>
      </p:sp>
      <p:sp>
        <p:nvSpPr>
          <p:cNvPr id="3" name="Text Placeholder 2">
            <a:extLst>
              <a:ext uri="{FF2B5EF4-FFF2-40B4-BE49-F238E27FC236}">
                <a16:creationId xmlns:a16="http://schemas.microsoft.com/office/drawing/2014/main" id="{EB7CED01-C445-C7BF-5815-F510DB89942C}"/>
              </a:ext>
            </a:extLst>
          </p:cNvPr>
          <p:cNvSpPr>
            <a:spLocks noGrp="1"/>
          </p:cNvSpPr>
          <p:nvPr>
            <p:ph type="body" idx="1"/>
          </p:nvPr>
        </p:nvSpPr>
        <p:spPr/>
        <p:txBody>
          <a:bodyPr/>
          <a:lstStyle/>
          <a:p>
            <a:r>
              <a:rPr lang="en-US" dirty="0"/>
              <a:t>Grocery stores often face challenges in managing inventory, customer orders, product sales, suppliers, and employee activities efficiently. Manual tracking of these operations can lead to inaccurate billing, stock shortages, poor sales analysis, and difficulty in monitoring business performance. The lack of a centralized system makes it hard to identify top-selling products, customer purchasing patterns, revenue trends, and employee performance. </a:t>
            </a:r>
          </a:p>
          <a:p>
            <a:endParaRPr lang="en-IN" dirty="0"/>
          </a:p>
        </p:txBody>
      </p:sp>
    </p:spTree>
    <p:extLst>
      <p:ext uri="{BB962C8B-B14F-4D97-AF65-F5344CB8AC3E}">
        <p14:creationId xmlns:p14="http://schemas.microsoft.com/office/powerpoint/2010/main" val="21330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3472-DA23-9029-F380-4956E95E4D26}"/>
              </a:ext>
            </a:extLst>
          </p:cNvPr>
          <p:cNvSpPr>
            <a:spLocks noGrp="1"/>
          </p:cNvSpPr>
          <p:nvPr>
            <p:ph type="title"/>
          </p:nvPr>
        </p:nvSpPr>
        <p:spPr/>
        <p:txBody>
          <a:bodyPr/>
          <a:lstStyle/>
          <a:p>
            <a:r>
              <a:rPr lang="en-US" b="1" dirty="0">
                <a:solidFill>
                  <a:srgbClr val="FF0000"/>
                </a:solidFill>
              </a:rPr>
              <a:t>Problem Statement</a:t>
            </a:r>
            <a:endParaRPr lang="en-IN" b="1" dirty="0">
              <a:solidFill>
                <a:srgbClr val="FF0000"/>
              </a:solidFill>
            </a:endParaRPr>
          </a:p>
        </p:txBody>
      </p:sp>
      <p:sp>
        <p:nvSpPr>
          <p:cNvPr id="3" name="Text Placeholder 2">
            <a:extLst>
              <a:ext uri="{FF2B5EF4-FFF2-40B4-BE49-F238E27FC236}">
                <a16:creationId xmlns:a16="http://schemas.microsoft.com/office/drawing/2014/main" id="{217678BE-A89C-2138-1113-E4165CA82F33}"/>
              </a:ext>
            </a:extLst>
          </p:cNvPr>
          <p:cNvSpPr>
            <a:spLocks noGrp="1"/>
          </p:cNvSpPr>
          <p:nvPr>
            <p:ph type="body" idx="1"/>
          </p:nvPr>
        </p:nvSpPr>
        <p:spPr>
          <a:xfrm>
            <a:off x="838199" y="1825625"/>
            <a:ext cx="10824411" cy="3452228"/>
          </a:xfrm>
        </p:spPr>
        <p:txBody>
          <a:bodyPr/>
          <a:lstStyle/>
          <a:p>
            <a:r>
              <a:rPr lang="en-US" dirty="0"/>
              <a:t>The Grocery Store Management System aims to develop a relational database system that stores and manages data related to customers, products, suppliers, employees, and orders. The project focuses on using SQL queries to analyze sales, customer behavior, product performance, supplier contribution, and operational efficiency to support better business decision-making. </a:t>
            </a:r>
            <a:endParaRPr lang="en-IN" dirty="0"/>
          </a:p>
        </p:txBody>
      </p:sp>
    </p:spTree>
    <p:extLst>
      <p:ext uri="{BB962C8B-B14F-4D97-AF65-F5344CB8AC3E}">
        <p14:creationId xmlns:p14="http://schemas.microsoft.com/office/powerpoint/2010/main" val="267494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2491-2261-CB27-3903-71E8EECDD4E7}"/>
              </a:ext>
            </a:extLst>
          </p:cNvPr>
          <p:cNvSpPr>
            <a:spLocks noGrp="1"/>
          </p:cNvSpPr>
          <p:nvPr>
            <p:ph type="title"/>
          </p:nvPr>
        </p:nvSpPr>
        <p:spPr/>
        <p:txBody>
          <a:bodyPr/>
          <a:lstStyle/>
          <a:p>
            <a:r>
              <a:rPr lang="en-US" b="1" dirty="0">
                <a:solidFill>
                  <a:srgbClr val="FF0000"/>
                </a:solidFill>
              </a:rPr>
              <a:t>Objective</a:t>
            </a:r>
            <a:endParaRPr lang="en-IN" b="1" dirty="0">
              <a:solidFill>
                <a:srgbClr val="FF0000"/>
              </a:solidFill>
            </a:endParaRPr>
          </a:p>
        </p:txBody>
      </p:sp>
      <p:sp>
        <p:nvSpPr>
          <p:cNvPr id="3" name="Text Placeholder 2">
            <a:extLst>
              <a:ext uri="{FF2B5EF4-FFF2-40B4-BE49-F238E27FC236}">
                <a16:creationId xmlns:a16="http://schemas.microsoft.com/office/drawing/2014/main" id="{B48725A3-1B70-8868-7560-24FD4EA74DEC}"/>
              </a:ext>
            </a:extLst>
          </p:cNvPr>
          <p:cNvSpPr>
            <a:spLocks noGrp="1"/>
          </p:cNvSpPr>
          <p:nvPr>
            <p:ph type="body" idx="1"/>
          </p:nvPr>
        </p:nvSpPr>
        <p:spPr>
          <a:xfrm>
            <a:off x="838200" y="1347537"/>
            <a:ext cx="11353800" cy="4829426"/>
          </a:xfrm>
        </p:spPr>
        <p:txBody>
          <a:bodyPr/>
          <a:lstStyle/>
          <a:p>
            <a:r>
              <a:rPr lang="en-US" dirty="0"/>
              <a:t>Design and implement a relational database for grocery store operations</a:t>
            </a:r>
          </a:p>
          <a:p>
            <a:r>
              <a:rPr lang="en-US" dirty="0"/>
              <a:t> Manage products, suppliers, customers, employees, and orders efficiently</a:t>
            </a:r>
          </a:p>
          <a:p>
            <a:r>
              <a:rPr lang="en-US" dirty="0"/>
              <a:t> Analyze customer purchasing behavior and sales trends</a:t>
            </a:r>
          </a:p>
          <a:p>
            <a:r>
              <a:rPr lang="en-US" dirty="0"/>
              <a:t> Identify top-selling products and high-value customers</a:t>
            </a:r>
          </a:p>
          <a:p>
            <a:r>
              <a:rPr lang="en-US" dirty="0"/>
              <a:t> Evaluate supplier and employee performance</a:t>
            </a:r>
          </a:p>
          <a:p>
            <a:r>
              <a:rPr lang="en-US" dirty="0"/>
              <a:t> Generate business insights using SQL concepts like joins, aggregations, subqueries, and filtering techniques</a:t>
            </a:r>
            <a:endParaRPr lang="en-IN" dirty="0"/>
          </a:p>
        </p:txBody>
      </p:sp>
    </p:spTree>
    <p:extLst>
      <p:ext uri="{BB962C8B-B14F-4D97-AF65-F5344CB8AC3E}">
        <p14:creationId xmlns:p14="http://schemas.microsoft.com/office/powerpoint/2010/main" val="3059668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81FBC-2C87-D1B8-B7D7-ABA0CDD4FF92}"/>
              </a:ext>
            </a:extLst>
          </p:cNvPr>
          <p:cNvSpPr>
            <a:spLocks noGrp="1"/>
          </p:cNvSpPr>
          <p:nvPr>
            <p:ph type="title"/>
          </p:nvPr>
        </p:nvSpPr>
        <p:spPr/>
        <p:txBody>
          <a:bodyPr/>
          <a:lstStyle/>
          <a:p>
            <a:r>
              <a:rPr lang="en-US" b="1" dirty="0">
                <a:solidFill>
                  <a:srgbClr val="FF0000"/>
                </a:solidFill>
              </a:rPr>
              <a:t>Introduction</a:t>
            </a:r>
            <a:endParaRPr lang="en-IN" b="1" dirty="0">
              <a:solidFill>
                <a:srgbClr val="FF0000"/>
              </a:solidFill>
            </a:endParaRPr>
          </a:p>
        </p:txBody>
      </p:sp>
      <p:sp>
        <p:nvSpPr>
          <p:cNvPr id="5" name="TextBox 4">
            <a:extLst>
              <a:ext uri="{FF2B5EF4-FFF2-40B4-BE49-F238E27FC236}">
                <a16:creationId xmlns:a16="http://schemas.microsoft.com/office/drawing/2014/main" id="{9EDB2E68-B4C9-BBCD-B18A-5BB7FAC872BF}"/>
              </a:ext>
            </a:extLst>
          </p:cNvPr>
          <p:cNvSpPr txBox="1"/>
          <p:nvPr/>
        </p:nvSpPr>
        <p:spPr>
          <a:xfrm>
            <a:off x="838200" y="1574276"/>
            <a:ext cx="10515600" cy="3416320"/>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The Grocery Store Management System is an SQL-based project designed to manage grocery store operations using a relational database. It organizes data related to customers, products, suppliers, employees, categories, and orders across seven interconnected tables. The project analyzes sales revenue, customer purchasing behavior, and product performance using SQL queries. It identifies top-selling products, high-value customers, and the contributions of suppliers and employees. SQL concepts such as joins, aggregate functions, subqueries, and filtering are used to extract meaningful insights. The main goal is to improve operational efficiency and support better business decision-making.</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944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7A696-9788-D1AB-B190-8F556945201F}"/>
              </a:ext>
            </a:extLst>
          </p:cNvPr>
          <p:cNvSpPr>
            <a:spLocks noGrp="1"/>
          </p:cNvSpPr>
          <p:nvPr>
            <p:ph type="title"/>
          </p:nvPr>
        </p:nvSpPr>
        <p:spPr/>
        <p:txBody>
          <a:bodyPr/>
          <a:lstStyle/>
          <a:p>
            <a:r>
              <a:rPr lang="en-US" b="1" dirty="0">
                <a:solidFill>
                  <a:srgbClr val="FF0000"/>
                </a:solidFill>
              </a:rPr>
              <a:t>ER Diagram</a:t>
            </a:r>
            <a:endParaRPr lang="en-IN" b="1" dirty="0">
              <a:solidFill>
                <a:srgbClr val="FF0000"/>
              </a:solidFill>
            </a:endParaRPr>
          </a:p>
        </p:txBody>
      </p:sp>
      <p:sp>
        <p:nvSpPr>
          <p:cNvPr id="3" name="Text Placeholder 2">
            <a:extLst>
              <a:ext uri="{FF2B5EF4-FFF2-40B4-BE49-F238E27FC236}">
                <a16:creationId xmlns:a16="http://schemas.microsoft.com/office/drawing/2014/main" id="{189AD6D3-73B3-22D7-D0BB-4A396EE3AD55}"/>
              </a:ext>
            </a:extLst>
          </p:cNvPr>
          <p:cNvSpPr>
            <a:spLocks noGrp="1"/>
          </p:cNvSpPr>
          <p:nvPr>
            <p:ph type="body" idx="1"/>
          </p:nvPr>
        </p:nvSpPr>
        <p:spPr>
          <a:xfrm>
            <a:off x="8325464" y="1376516"/>
            <a:ext cx="3630562" cy="4721789"/>
          </a:xfrm>
        </p:spPr>
        <p:txBody>
          <a:bodyPr>
            <a:normAutofit/>
          </a:bodyPr>
          <a:lstStyle/>
          <a:p>
            <a:r>
              <a:rPr lang="en-US" sz="2000" dirty="0"/>
              <a:t>One-to-Many from </a:t>
            </a:r>
            <a:r>
              <a:rPr lang="en-US" sz="2000" b="1" dirty="0"/>
              <a:t>Customers</a:t>
            </a:r>
            <a:r>
              <a:rPr lang="en-US" sz="2000" dirty="0"/>
              <a:t> to </a:t>
            </a:r>
            <a:r>
              <a:rPr lang="en-US" sz="2000" b="1" dirty="0"/>
              <a:t>Orders</a:t>
            </a:r>
          </a:p>
          <a:p>
            <a:r>
              <a:rPr lang="en-US" sz="2000" dirty="0"/>
              <a:t> One-to-Many from </a:t>
            </a:r>
            <a:r>
              <a:rPr lang="en-US" sz="2000" b="1" dirty="0"/>
              <a:t>Employees</a:t>
            </a:r>
            <a:r>
              <a:rPr lang="en-US" sz="2000" dirty="0"/>
              <a:t> to </a:t>
            </a:r>
            <a:r>
              <a:rPr lang="en-US" sz="2000" b="1" dirty="0"/>
              <a:t>Orders</a:t>
            </a:r>
            <a:r>
              <a:rPr lang="en-US" sz="2000" dirty="0"/>
              <a:t> </a:t>
            </a:r>
          </a:p>
          <a:p>
            <a:r>
              <a:rPr lang="en-US" sz="2000" dirty="0"/>
              <a:t>One-to-Many from </a:t>
            </a:r>
            <a:r>
              <a:rPr lang="en-US" sz="2000" b="1" dirty="0"/>
              <a:t>Orders</a:t>
            </a:r>
            <a:r>
              <a:rPr lang="en-US" sz="2000" dirty="0"/>
              <a:t> to </a:t>
            </a:r>
            <a:r>
              <a:rPr lang="en-US" sz="2000" b="1" dirty="0"/>
              <a:t>Order Details</a:t>
            </a:r>
            <a:r>
              <a:rPr lang="en-US" sz="2000" dirty="0"/>
              <a:t> </a:t>
            </a:r>
          </a:p>
          <a:p>
            <a:r>
              <a:rPr lang="en-US" sz="2000" dirty="0"/>
              <a:t>One-to-Many from </a:t>
            </a:r>
            <a:r>
              <a:rPr lang="en-US" sz="2000" b="1" dirty="0"/>
              <a:t>Products</a:t>
            </a:r>
            <a:r>
              <a:rPr lang="en-US" sz="2000" dirty="0"/>
              <a:t> to </a:t>
            </a:r>
            <a:r>
              <a:rPr lang="en-US" sz="2000" b="1" dirty="0"/>
              <a:t>Order Details</a:t>
            </a:r>
            <a:r>
              <a:rPr lang="en-US" sz="2000" dirty="0"/>
              <a:t> </a:t>
            </a:r>
          </a:p>
          <a:p>
            <a:r>
              <a:rPr lang="en-US" sz="2000" dirty="0"/>
              <a:t>One-to-Many from </a:t>
            </a:r>
            <a:r>
              <a:rPr lang="en-US" sz="2000" b="1" dirty="0"/>
              <a:t>Suppliers</a:t>
            </a:r>
            <a:r>
              <a:rPr lang="en-US" sz="2000" dirty="0"/>
              <a:t> to </a:t>
            </a:r>
            <a:r>
              <a:rPr lang="en-US" sz="2000" b="1" dirty="0"/>
              <a:t>Products</a:t>
            </a:r>
            <a:r>
              <a:rPr lang="en-US" sz="2000" dirty="0"/>
              <a:t> </a:t>
            </a:r>
          </a:p>
          <a:p>
            <a:r>
              <a:rPr lang="en-US" sz="2000" dirty="0"/>
              <a:t>One-to-Many from </a:t>
            </a:r>
            <a:r>
              <a:rPr lang="en-US" sz="2000" b="1" dirty="0"/>
              <a:t>Categories</a:t>
            </a:r>
            <a:r>
              <a:rPr lang="en-US" sz="2000" dirty="0"/>
              <a:t> to </a:t>
            </a:r>
            <a:r>
              <a:rPr lang="en-US" sz="2000" b="1" dirty="0"/>
              <a:t>Products</a:t>
            </a:r>
            <a:endParaRPr lang="en-IN" sz="2000" dirty="0"/>
          </a:p>
        </p:txBody>
      </p:sp>
      <p:pic>
        <p:nvPicPr>
          <p:cNvPr id="6" name="Picture 5">
            <a:extLst>
              <a:ext uri="{FF2B5EF4-FFF2-40B4-BE49-F238E27FC236}">
                <a16:creationId xmlns:a16="http://schemas.microsoft.com/office/drawing/2014/main" id="{A4FF1941-19CD-3F4E-F4FC-D155C762AFBD}"/>
              </a:ext>
            </a:extLst>
          </p:cNvPr>
          <p:cNvPicPr>
            <a:picLocks noChangeAspect="1"/>
          </p:cNvPicPr>
          <p:nvPr/>
        </p:nvPicPr>
        <p:blipFill>
          <a:blip r:embed="rId2"/>
          <a:stretch>
            <a:fillRect/>
          </a:stretch>
        </p:blipFill>
        <p:spPr>
          <a:xfrm>
            <a:off x="347049" y="1376516"/>
            <a:ext cx="7978415" cy="5261501"/>
          </a:xfrm>
          <a:prstGeom prst="rect">
            <a:avLst/>
          </a:prstGeom>
        </p:spPr>
      </p:pic>
    </p:spTree>
    <p:extLst>
      <p:ext uri="{BB962C8B-B14F-4D97-AF65-F5344CB8AC3E}">
        <p14:creationId xmlns:p14="http://schemas.microsoft.com/office/powerpoint/2010/main" val="435673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ADFA4-C205-A7F8-E5B0-697509A5FD55}"/>
              </a:ext>
            </a:extLst>
          </p:cNvPr>
          <p:cNvSpPr>
            <a:spLocks noGrp="1"/>
          </p:cNvSpPr>
          <p:nvPr>
            <p:ph type="title"/>
          </p:nvPr>
        </p:nvSpPr>
        <p:spPr/>
        <p:txBody>
          <a:bodyPr/>
          <a:lstStyle/>
          <a:p>
            <a:r>
              <a:rPr lang="en-US" b="1" dirty="0">
                <a:solidFill>
                  <a:srgbClr val="FF0000"/>
                </a:solidFill>
              </a:rPr>
              <a:t>Data Schema Description</a:t>
            </a:r>
            <a:endParaRPr lang="en-IN" b="1" dirty="0">
              <a:solidFill>
                <a:srgbClr val="FF0000"/>
              </a:solidFill>
            </a:endParaRPr>
          </a:p>
        </p:txBody>
      </p:sp>
      <p:sp>
        <p:nvSpPr>
          <p:cNvPr id="4" name="Rectangle 1">
            <a:extLst>
              <a:ext uri="{FF2B5EF4-FFF2-40B4-BE49-F238E27FC236}">
                <a16:creationId xmlns:a16="http://schemas.microsoft.com/office/drawing/2014/main" id="{F7361A99-1F2B-8E3C-F442-036FDF672C0D}"/>
              </a:ext>
            </a:extLst>
          </p:cNvPr>
          <p:cNvSpPr>
            <a:spLocks noGrp="1" noChangeArrowheads="1"/>
          </p:cNvSpPr>
          <p:nvPr>
            <p:ph type="body" idx="1"/>
          </p:nvPr>
        </p:nvSpPr>
        <p:spPr bwMode="auto">
          <a:xfrm>
            <a:off x="730045" y="1739886"/>
            <a:ext cx="1193147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Supplier</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Stores supplier details, including supplier ID, name, and address.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Categories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Contains product category information, such as category ID and category name.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Employees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Stores employee details, including employee ID, name, and hire date.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Customers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Maintains customer information, including customer ID, name, and address.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Products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Stores product details, including product ID, name, price, supplier ID, and category ID.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Orders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Records customer orders, including order ID, customer ID, employee ID, and order date.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Order Details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Contains individual items in each order, including product ID, quantity, unit price, total price.</a:t>
            </a:r>
          </a:p>
        </p:txBody>
      </p:sp>
    </p:spTree>
    <p:extLst>
      <p:ext uri="{BB962C8B-B14F-4D97-AF65-F5344CB8AC3E}">
        <p14:creationId xmlns:p14="http://schemas.microsoft.com/office/powerpoint/2010/main" val="1266982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DE44-0BEC-EF4A-6963-DFC807E751A8}"/>
              </a:ext>
            </a:extLst>
          </p:cNvPr>
          <p:cNvSpPr>
            <a:spLocks noGrp="1"/>
          </p:cNvSpPr>
          <p:nvPr>
            <p:ph type="title"/>
          </p:nvPr>
        </p:nvSpPr>
        <p:spPr>
          <a:xfrm>
            <a:off x="838200" y="365126"/>
            <a:ext cx="10515600" cy="1119546"/>
          </a:xfrm>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22947685-A4B4-08F3-1F27-361164C8AAB7}"/>
              </a:ext>
            </a:extLst>
          </p:cNvPr>
          <p:cNvSpPr>
            <a:spLocks noGrp="1"/>
          </p:cNvSpPr>
          <p:nvPr>
            <p:ph type="body" idx="1"/>
          </p:nvPr>
        </p:nvSpPr>
        <p:spPr>
          <a:xfrm>
            <a:off x="857865" y="1337188"/>
            <a:ext cx="10515600" cy="5185184"/>
          </a:xfrm>
        </p:spPr>
        <p:txBody>
          <a:bodyPr/>
          <a:lstStyle/>
          <a:p>
            <a:r>
              <a:rPr lang="en-US" b="1" dirty="0"/>
              <a:t> How many unique customers placed orders?</a:t>
            </a:r>
          </a:p>
          <a:p>
            <a:endParaRPr lang="en-IN" dirty="0"/>
          </a:p>
        </p:txBody>
      </p:sp>
      <p:pic>
        <p:nvPicPr>
          <p:cNvPr id="5" name="Picture 4">
            <a:extLst>
              <a:ext uri="{FF2B5EF4-FFF2-40B4-BE49-F238E27FC236}">
                <a16:creationId xmlns:a16="http://schemas.microsoft.com/office/drawing/2014/main" id="{DE652D20-E369-F703-F1D0-5C56B1467DCD}"/>
              </a:ext>
            </a:extLst>
          </p:cNvPr>
          <p:cNvPicPr>
            <a:picLocks noChangeAspect="1"/>
          </p:cNvPicPr>
          <p:nvPr/>
        </p:nvPicPr>
        <p:blipFill>
          <a:blip r:embed="rId2"/>
          <a:stretch>
            <a:fillRect/>
          </a:stretch>
        </p:blipFill>
        <p:spPr>
          <a:xfrm>
            <a:off x="1283054" y="2095615"/>
            <a:ext cx="5806004" cy="883559"/>
          </a:xfrm>
          <a:prstGeom prst="rect">
            <a:avLst/>
          </a:prstGeom>
        </p:spPr>
      </p:pic>
      <p:pic>
        <p:nvPicPr>
          <p:cNvPr id="7" name="Picture 6">
            <a:extLst>
              <a:ext uri="{FF2B5EF4-FFF2-40B4-BE49-F238E27FC236}">
                <a16:creationId xmlns:a16="http://schemas.microsoft.com/office/drawing/2014/main" id="{BD32BF6D-9F10-9845-AB07-A35BAC948787}"/>
              </a:ext>
            </a:extLst>
          </p:cNvPr>
          <p:cNvPicPr>
            <a:picLocks noChangeAspect="1"/>
          </p:cNvPicPr>
          <p:nvPr/>
        </p:nvPicPr>
        <p:blipFill>
          <a:blip r:embed="rId3"/>
          <a:stretch>
            <a:fillRect/>
          </a:stretch>
        </p:blipFill>
        <p:spPr>
          <a:xfrm>
            <a:off x="1368001" y="3929780"/>
            <a:ext cx="4865651" cy="681550"/>
          </a:xfrm>
          <a:prstGeom prst="rect">
            <a:avLst/>
          </a:prstGeom>
        </p:spPr>
      </p:pic>
      <p:sp>
        <p:nvSpPr>
          <p:cNvPr id="9" name="TextBox 8">
            <a:extLst>
              <a:ext uri="{FF2B5EF4-FFF2-40B4-BE49-F238E27FC236}">
                <a16:creationId xmlns:a16="http://schemas.microsoft.com/office/drawing/2014/main" id="{195B6F18-1013-55F4-9236-1F733DBA4678}"/>
              </a:ext>
            </a:extLst>
          </p:cNvPr>
          <p:cNvSpPr txBox="1"/>
          <p:nvPr/>
        </p:nvSpPr>
        <p:spPr>
          <a:xfrm>
            <a:off x="973393" y="4936037"/>
            <a:ext cx="5142272" cy="584775"/>
          </a:xfrm>
          <a:prstGeom prst="rect">
            <a:avLst/>
          </a:prstGeom>
          <a:noFill/>
        </p:spPr>
        <p:txBody>
          <a:bodyPr wrap="square" rtlCol="0">
            <a:spAutoFit/>
          </a:bodyPr>
          <a:lstStyle/>
          <a:p>
            <a:r>
              <a:rPr lang="en-US" sz="1600" b="1" dirty="0"/>
              <a:t>Counts the total number of unique customers who have placed orders in the store.</a:t>
            </a:r>
            <a:endParaRPr lang="en-IN" sz="1600" b="1" dirty="0"/>
          </a:p>
        </p:txBody>
      </p:sp>
    </p:spTree>
    <p:extLst>
      <p:ext uri="{BB962C8B-B14F-4D97-AF65-F5344CB8AC3E}">
        <p14:creationId xmlns:p14="http://schemas.microsoft.com/office/powerpoint/2010/main" val="1776819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C06D-242A-6FB0-0B8D-9FFD149201D0}"/>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0EC38385-0B5C-0257-D86E-9BD73E5A84C6}"/>
              </a:ext>
            </a:extLst>
          </p:cNvPr>
          <p:cNvSpPr>
            <a:spLocks noGrp="1"/>
          </p:cNvSpPr>
          <p:nvPr>
            <p:ph type="body" idx="1"/>
          </p:nvPr>
        </p:nvSpPr>
        <p:spPr>
          <a:xfrm>
            <a:off x="838200" y="1411705"/>
            <a:ext cx="10515600" cy="4765258"/>
          </a:xfrm>
        </p:spPr>
        <p:txBody>
          <a:bodyPr/>
          <a:lstStyle/>
          <a:p>
            <a:r>
              <a:rPr lang="en-US" b="1" dirty="0"/>
              <a:t>Top 5 Customers by Spending</a:t>
            </a:r>
            <a:endParaRPr lang="en-IN" b="1" dirty="0"/>
          </a:p>
        </p:txBody>
      </p:sp>
      <p:sp>
        <p:nvSpPr>
          <p:cNvPr id="8" name="TextBox 7">
            <a:extLst>
              <a:ext uri="{FF2B5EF4-FFF2-40B4-BE49-F238E27FC236}">
                <a16:creationId xmlns:a16="http://schemas.microsoft.com/office/drawing/2014/main" id="{2758E8C8-27BA-A40F-EA7F-BDA4F7F977F6}"/>
              </a:ext>
            </a:extLst>
          </p:cNvPr>
          <p:cNvSpPr txBox="1"/>
          <p:nvPr/>
        </p:nvSpPr>
        <p:spPr>
          <a:xfrm>
            <a:off x="6644640" y="4556760"/>
            <a:ext cx="5001240" cy="584775"/>
          </a:xfrm>
          <a:prstGeom prst="rect">
            <a:avLst/>
          </a:prstGeom>
          <a:noFill/>
        </p:spPr>
        <p:txBody>
          <a:bodyPr wrap="square" rtlCol="0">
            <a:spAutoFit/>
          </a:bodyPr>
          <a:lstStyle/>
          <a:p>
            <a:r>
              <a:rPr lang="en-US" sz="1600" b="1" dirty="0"/>
              <a:t>Identifies the top 5 customers with the highest total spending in the grocery store.</a:t>
            </a:r>
            <a:endParaRPr lang="en-IN" sz="1600" b="1" dirty="0"/>
          </a:p>
        </p:txBody>
      </p:sp>
      <p:pic>
        <p:nvPicPr>
          <p:cNvPr id="6" name="Picture 5">
            <a:extLst>
              <a:ext uri="{FF2B5EF4-FFF2-40B4-BE49-F238E27FC236}">
                <a16:creationId xmlns:a16="http://schemas.microsoft.com/office/drawing/2014/main" id="{C7BA2519-796F-7C41-A276-723FD9CD157B}"/>
              </a:ext>
            </a:extLst>
          </p:cNvPr>
          <p:cNvPicPr>
            <a:picLocks noChangeAspect="1"/>
          </p:cNvPicPr>
          <p:nvPr/>
        </p:nvPicPr>
        <p:blipFill>
          <a:blip r:embed="rId2"/>
          <a:stretch>
            <a:fillRect/>
          </a:stretch>
        </p:blipFill>
        <p:spPr>
          <a:xfrm>
            <a:off x="838200" y="2146467"/>
            <a:ext cx="4648200" cy="4501243"/>
          </a:xfrm>
          <a:prstGeom prst="rect">
            <a:avLst/>
          </a:prstGeom>
        </p:spPr>
      </p:pic>
      <p:pic>
        <p:nvPicPr>
          <p:cNvPr id="10" name="Picture 9">
            <a:extLst>
              <a:ext uri="{FF2B5EF4-FFF2-40B4-BE49-F238E27FC236}">
                <a16:creationId xmlns:a16="http://schemas.microsoft.com/office/drawing/2014/main" id="{FAACCB45-9C0F-472F-AC6E-0626CE7DB7F7}"/>
              </a:ext>
            </a:extLst>
          </p:cNvPr>
          <p:cNvPicPr>
            <a:picLocks noChangeAspect="1"/>
          </p:cNvPicPr>
          <p:nvPr/>
        </p:nvPicPr>
        <p:blipFill>
          <a:blip r:embed="rId3"/>
          <a:stretch>
            <a:fillRect/>
          </a:stretch>
        </p:blipFill>
        <p:spPr>
          <a:xfrm>
            <a:off x="6332807" y="2275531"/>
            <a:ext cx="3842325" cy="1810481"/>
          </a:xfrm>
          <a:prstGeom prst="rect">
            <a:avLst/>
          </a:prstGeom>
        </p:spPr>
      </p:pic>
    </p:spTree>
    <p:extLst>
      <p:ext uri="{BB962C8B-B14F-4D97-AF65-F5344CB8AC3E}">
        <p14:creationId xmlns:p14="http://schemas.microsoft.com/office/powerpoint/2010/main" val="3667534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9F985-5763-74EF-1447-AD630A12B661}"/>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E17C0013-C3CA-73CC-4728-AA90F0C466FB}"/>
              </a:ext>
            </a:extLst>
          </p:cNvPr>
          <p:cNvSpPr>
            <a:spLocks noGrp="1"/>
          </p:cNvSpPr>
          <p:nvPr>
            <p:ph type="body" idx="1"/>
          </p:nvPr>
        </p:nvSpPr>
        <p:spPr>
          <a:xfrm>
            <a:off x="838200" y="1394493"/>
            <a:ext cx="10515600" cy="4782470"/>
          </a:xfrm>
        </p:spPr>
        <p:txBody>
          <a:bodyPr/>
          <a:lstStyle/>
          <a:p>
            <a:r>
              <a:rPr lang="en-US" b="1" dirty="0"/>
              <a:t>Products with Highest Sales Quantity</a:t>
            </a:r>
            <a:endParaRPr lang="en-IN" b="1" dirty="0"/>
          </a:p>
        </p:txBody>
      </p:sp>
      <p:sp>
        <p:nvSpPr>
          <p:cNvPr id="8" name="TextBox 7">
            <a:extLst>
              <a:ext uri="{FF2B5EF4-FFF2-40B4-BE49-F238E27FC236}">
                <a16:creationId xmlns:a16="http://schemas.microsoft.com/office/drawing/2014/main" id="{0425DEF5-D997-EA41-9CF0-4DB2ABA41800}"/>
              </a:ext>
            </a:extLst>
          </p:cNvPr>
          <p:cNvSpPr txBox="1"/>
          <p:nvPr/>
        </p:nvSpPr>
        <p:spPr>
          <a:xfrm>
            <a:off x="5598695" y="5133473"/>
            <a:ext cx="5630779" cy="800219"/>
          </a:xfrm>
          <a:prstGeom prst="rect">
            <a:avLst/>
          </a:prstGeom>
          <a:noFill/>
        </p:spPr>
        <p:txBody>
          <a:bodyPr wrap="square" rtlCol="0">
            <a:spAutoFit/>
          </a:bodyPr>
          <a:lstStyle/>
          <a:p>
            <a:r>
              <a:rPr lang="en-US" sz="1600" b="1" dirty="0"/>
              <a:t>Identifies the products with the highest sales quantity to determine best-selling items.</a:t>
            </a:r>
          </a:p>
          <a:p>
            <a:endParaRPr lang="en-IN" dirty="0"/>
          </a:p>
        </p:txBody>
      </p:sp>
      <p:pic>
        <p:nvPicPr>
          <p:cNvPr id="5" name="Picture 4">
            <a:extLst>
              <a:ext uri="{FF2B5EF4-FFF2-40B4-BE49-F238E27FC236}">
                <a16:creationId xmlns:a16="http://schemas.microsoft.com/office/drawing/2014/main" id="{56B989AB-9F96-324B-AD14-511DF7AF9419}"/>
              </a:ext>
            </a:extLst>
          </p:cNvPr>
          <p:cNvPicPr>
            <a:picLocks noChangeAspect="1"/>
          </p:cNvPicPr>
          <p:nvPr/>
        </p:nvPicPr>
        <p:blipFill>
          <a:blip r:embed="rId2"/>
          <a:stretch>
            <a:fillRect/>
          </a:stretch>
        </p:blipFill>
        <p:spPr>
          <a:xfrm>
            <a:off x="1147661" y="2246380"/>
            <a:ext cx="3943350" cy="3590925"/>
          </a:xfrm>
          <a:prstGeom prst="rect">
            <a:avLst/>
          </a:prstGeom>
        </p:spPr>
      </p:pic>
      <p:pic>
        <p:nvPicPr>
          <p:cNvPr id="9" name="Picture 8">
            <a:extLst>
              <a:ext uri="{FF2B5EF4-FFF2-40B4-BE49-F238E27FC236}">
                <a16:creationId xmlns:a16="http://schemas.microsoft.com/office/drawing/2014/main" id="{2A95D5E6-D9D8-A53D-E8A2-ED1B4A7A768F}"/>
              </a:ext>
            </a:extLst>
          </p:cNvPr>
          <p:cNvPicPr>
            <a:picLocks noChangeAspect="1"/>
          </p:cNvPicPr>
          <p:nvPr/>
        </p:nvPicPr>
        <p:blipFill>
          <a:blip r:embed="rId3"/>
          <a:stretch>
            <a:fillRect/>
          </a:stretch>
        </p:blipFill>
        <p:spPr>
          <a:xfrm>
            <a:off x="5745804" y="2451371"/>
            <a:ext cx="4210050" cy="2286000"/>
          </a:xfrm>
          <a:prstGeom prst="rect">
            <a:avLst/>
          </a:prstGeom>
        </p:spPr>
      </p:pic>
    </p:spTree>
    <p:extLst>
      <p:ext uri="{BB962C8B-B14F-4D97-AF65-F5344CB8AC3E}">
        <p14:creationId xmlns:p14="http://schemas.microsoft.com/office/powerpoint/2010/main" val="310576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2A93-5750-CCBB-752C-F48CFBED7F83}"/>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1B197B7E-921D-EF6E-A571-7E0D39E24EB9}"/>
              </a:ext>
            </a:extLst>
          </p:cNvPr>
          <p:cNvSpPr>
            <a:spLocks noGrp="1"/>
          </p:cNvSpPr>
          <p:nvPr>
            <p:ph type="body" idx="1"/>
          </p:nvPr>
        </p:nvSpPr>
        <p:spPr>
          <a:xfrm>
            <a:off x="838200" y="1825625"/>
            <a:ext cx="10515600" cy="4667250"/>
          </a:xfrm>
        </p:spPr>
        <p:txBody>
          <a:bodyPr/>
          <a:lstStyle/>
          <a:p>
            <a:r>
              <a:rPr lang="en-US" b="1" dirty="0"/>
              <a:t>Revenue Generated by Each Product</a:t>
            </a:r>
          </a:p>
          <a:p>
            <a:endParaRPr lang="en-IN" b="1" dirty="0"/>
          </a:p>
        </p:txBody>
      </p:sp>
      <p:pic>
        <p:nvPicPr>
          <p:cNvPr id="7" name="Picture 6">
            <a:extLst>
              <a:ext uri="{FF2B5EF4-FFF2-40B4-BE49-F238E27FC236}">
                <a16:creationId xmlns:a16="http://schemas.microsoft.com/office/drawing/2014/main" id="{3D6C2AFC-E5AF-6E5E-0B6E-76D199ACFD25}"/>
              </a:ext>
            </a:extLst>
          </p:cNvPr>
          <p:cNvPicPr>
            <a:picLocks noChangeAspect="1"/>
          </p:cNvPicPr>
          <p:nvPr/>
        </p:nvPicPr>
        <p:blipFill>
          <a:blip r:embed="rId2"/>
          <a:stretch>
            <a:fillRect/>
          </a:stretch>
        </p:blipFill>
        <p:spPr>
          <a:xfrm>
            <a:off x="7480977" y="2323408"/>
            <a:ext cx="3026602" cy="2724530"/>
          </a:xfrm>
          <a:prstGeom prst="rect">
            <a:avLst/>
          </a:prstGeom>
        </p:spPr>
      </p:pic>
      <p:sp>
        <p:nvSpPr>
          <p:cNvPr id="8" name="TextBox 7">
            <a:extLst>
              <a:ext uri="{FF2B5EF4-FFF2-40B4-BE49-F238E27FC236}">
                <a16:creationId xmlns:a16="http://schemas.microsoft.com/office/drawing/2014/main" id="{3529AC96-17A7-85BF-70EE-879EC3FEDA14}"/>
              </a:ext>
            </a:extLst>
          </p:cNvPr>
          <p:cNvSpPr txBox="1"/>
          <p:nvPr/>
        </p:nvSpPr>
        <p:spPr>
          <a:xfrm>
            <a:off x="5662863" y="5438274"/>
            <a:ext cx="5239373" cy="800219"/>
          </a:xfrm>
          <a:prstGeom prst="rect">
            <a:avLst/>
          </a:prstGeom>
          <a:noFill/>
        </p:spPr>
        <p:txBody>
          <a:bodyPr wrap="square" rtlCol="0">
            <a:spAutoFit/>
          </a:bodyPr>
          <a:lstStyle/>
          <a:p>
            <a:r>
              <a:rPr lang="en-US" sz="1600" b="1" dirty="0"/>
              <a:t>Calculates the total revenue generated by each product based on sales transactions.</a:t>
            </a:r>
          </a:p>
          <a:p>
            <a:endParaRPr lang="en-IN" dirty="0"/>
          </a:p>
        </p:txBody>
      </p:sp>
      <p:pic>
        <p:nvPicPr>
          <p:cNvPr id="6" name="Picture 5">
            <a:extLst>
              <a:ext uri="{FF2B5EF4-FFF2-40B4-BE49-F238E27FC236}">
                <a16:creationId xmlns:a16="http://schemas.microsoft.com/office/drawing/2014/main" id="{BFC32457-8C98-DA92-FC64-1BD53A857003}"/>
              </a:ext>
            </a:extLst>
          </p:cNvPr>
          <p:cNvPicPr>
            <a:picLocks noChangeAspect="1"/>
          </p:cNvPicPr>
          <p:nvPr/>
        </p:nvPicPr>
        <p:blipFill>
          <a:blip r:embed="rId3"/>
          <a:stretch>
            <a:fillRect/>
          </a:stretch>
        </p:blipFill>
        <p:spPr>
          <a:xfrm>
            <a:off x="1133070" y="2909385"/>
            <a:ext cx="4400550" cy="2246275"/>
          </a:xfrm>
          <a:prstGeom prst="rect">
            <a:avLst/>
          </a:prstGeom>
        </p:spPr>
      </p:pic>
    </p:spTree>
    <p:extLst>
      <p:ext uri="{BB962C8B-B14F-4D97-AF65-F5344CB8AC3E}">
        <p14:creationId xmlns:p14="http://schemas.microsoft.com/office/powerpoint/2010/main" val="370420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3C1E-0513-669E-539A-7D6F824701C9}"/>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72708754-6E06-7F52-505D-F84913FBD0D0}"/>
              </a:ext>
            </a:extLst>
          </p:cNvPr>
          <p:cNvSpPr>
            <a:spLocks noGrp="1"/>
          </p:cNvSpPr>
          <p:nvPr>
            <p:ph type="body" idx="1"/>
          </p:nvPr>
        </p:nvSpPr>
        <p:spPr>
          <a:xfrm>
            <a:off x="838200" y="1482960"/>
            <a:ext cx="10515600" cy="4694003"/>
          </a:xfrm>
        </p:spPr>
        <p:txBody>
          <a:bodyPr/>
          <a:lstStyle/>
          <a:p>
            <a:r>
              <a:rPr lang="en-US" b="1" dirty="0"/>
              <a:t>What are the monthly trends in order volume and revenue?</a:t>
            </a:r>
          </a:p>
          <a:p>
            <a:endParaRPr lang="en-IN" b="1" dirty="0"/>
          </a:p>
        </p:txBody>
      </p:sp>
      <p:pic>
        <p:nvPicPr>
          <p:cNvPr id="5" name="Picture 4">
            <a:extLst>
              <a:ext uri="{FF2B5EF4-FFF2-40B4-BE49-F238E27FC236}">
                <a16:creationId xmlns:a16="http://schemas.microsoft.com/office/drawing/2014/main" id="{CCEFDA8E-7CE6-9A5C-1CB3-C35E3C8A2CE4}"/>
              </a:ext>
            </a:extLst>
          </p:cNvPr>
          <p:cNvPicPr>
            <a:picLocks noChangeAspect="1"/>
          </p:cNvPicPr>
          <p:nvPr/>
        </p:nvPicPr>
        <p:blipFill>
          <a:blip r:embed="rId2"/>
          <a:stretch>
            <a:fillRect/>
          </a:stretch>
        </p:blipFill>
        <p:spPr>
          <a:xfrm>
            <a:off x="1361185" y="2257951"/>
            <a:ext cx="3943900" cy="3010320"/>
          </a:xfrm>
          <a:prstGeom prst="rect">
            <a:avLst/>
          </a:prstGeom>
        </p:spPr>
      </p:pic>
      <p:pic>
        <p:nvPicPr>
          <p:cNvPr id="7" name="Picture 6">
            <a:extLst>
              <a:ext uri="{FF2B5EF4-FFF2-40B4-BE49-F238E27FC236}">
                <a16:creationId xmlns:a16="http://schemas.microsoft.com/office/drawing/2014/main" id="{F6EA4D75-2865-5270-5811-E2BD8B04FDEF}"/>
              </a:ext>
            </a:extLst>
          </p:cNvPr>
          <p:cNvPicPr>
            <a:picLocks noChangeAspect="1"/>
          </p:cNvPicPr>
          <p:nvPr/>
        </p:nvPicPr>
        <p:blipFill>
          <a:blip r:embed="rId3"/>
          <a:stretch>
            <a:fillRect/>
          </a:stretch>
        </p:blipFill>
        <p:spPr>
          <a:xfrm>
            <a:off x="7335744" y="2257951"/>
            <a:ext cx="2810267" cy="2753109"/>
          </a:xfrm>
          <a:prstGeom prst="rect">
            <a:avLst/>
          </a:prstGeom>
        </p:spPr>
      </p:pic>
      <p:sp>
        <p:nvSpPr>
          <p:cNvPr id="8" name="TextBox 7">
            <a:extLst>
              <a:ext uri="{FF2B5EF4-FFF2-40B4-BE49-F238E27FC236}">
                <a16:creationId xmlns:a16="http://schemas.microsoft.com/office/drawing/2014/main" id="{83567A94-3A7D-4616-721C-17A8F9820B61}"/>
              </a:ext>
            </a:extLst>
          </p:cNvPr>
          <p:cNvSpPr txBox="1"/>
          <p:nvPr/>
        </p:nvSpPr>
        <p:spPr>
          <a:xfrm>
            <a:off x="5305085" y="5345966"/>
            <a:ext cx="5364080" cy="830997"/>
          </a:xfrm>
          <a:prstGeom prst="rect">
            <a:avLst/>
          </a:prstGeom>
          <a:noFill/>
        </p:spPr>
        <p:txBody>
          <a:bodyPr wrap="square" rtlCol="0">
            <a:spAutoFit/>
          </a:bodyPr>
          <a:lstStyle/>
          <a:p>
            <a:r>
              <a:rPr lang="en-US" sz="1600" b="1" dirty="0"/>
              <a:t>Order volume and revenue fluctuate across months, with January showing the highest sales performance and October recording the lowest.</a:t>
            </a:r>
            <a:endParaRPr lang="en-IN" sz="1600" b="1" dirty="0"/>
          </a:p>
        </p:txBody>
      </p:sp>
    </p:spTree>
    <p:extLst>
      <p:ext uri="{BB962C8B-B14F-4D97-AF65-F5344CB8AC3E}">
        <p14:creationId xmlns:p14="http://schemas.microsoft.com/office/powerpoint/2010/main" val="298529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85FD5-2BB2-22C8-766B-B144C2A9C3A4}"/>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2F9AEDEE-2573-1598-039C-CC057F6F505D}"/>
              </a:ext>
            </a:extLst>
          </p:cNvPr>
          <p:cNvSpPr>
            <a:spLocks noGrp="1"/>
          </p:cNvSpPr>
          <p:nvPr>
            <p:ph type="body" idx="1"/>
          </p:nvPr>
        </p:nvSpPr>
        <p:spPr/>
        <p:txBody>
          <a:bodyPr/>
          <a:lstStyle/>
          <a:p>
            <a:r>
              <a:rPr lang="en-US" b="1" dirty="0"/>
              <a:t>Which supplier provides the most products?</a:t>
            </a:r>
            <a:endParaRPr lang="en-IN" b="1" dirty="0"/>
          </a:p>
        </p:txBody>
      </p:sp>
      <p:pic>
        <p:nvPicPr>
          <p:cNvPr id="5" name="Picture 4">
            <a:extLst>
              <a:ext uri="{FF2B5EF4-FFF2-40B4-BE49-F238E27FC236}">
                <a16:creationId xmlns:a16="http://schemas.microsoft.com/office/drawing/2014/main" id="{0F3A9986-7CAD-D46D-7AA1-C72BF6E2655C}"/>
              </a:ext>
            </a:extLst>
          </p:cNvPr>
          <p:cNvPicPr>
            <a:picLocks noChangeAspect="1"/>
          </p:cNvPicPr>
          <p:nvPr/>
        </p:nvPicPr>
        <p:blipFill>
          <a:blip r:embed="rId2"/>
          <a:stretch>
            <a:fillRect/>
          </a:stretch>
        </p:blipFill>
        <p:spPr>
          <a:xfrm>
            <a:off x="1512820" y="3107467"/>
            <a:ext cx="3896269" cy="2019582"/>
          </a:xfrm>
          <a:prstGeom prst="rect">
            <a:avLst/>
          </a:prstGeom>
        </p:spPr>
      </p:pic>
      <p:pic>
        <p:nvPicPr>
          <p:cNvPr id="7" name="Picture 6">
            <a:extLst>
              <a:ext uri="{FF2B5EF4-FFF2-40B4-BE49-F238E27FC236}">
                <a16:creationId xmlns:a16="http://schemas.microsoft.com/office/drawing/2014/main" id="{E4A32A93-FCC6-51CB-F48D-F07F44508C77}"/>
              </a:ext>
            </a:extLst>
          </p:cNvPr>
          <p:cNvPicPr>
            <a:picLocks noChangeAspect="1"/>
          </p:cNvPicPr>
          <p:nvPr/>
        </p:nvPicPr>
        <p:blipFill>
          <a:blip r:embed="rId3"/>
          <a:stretch>
            <a:fillRect/>
          </a:stretch>
        </p:blipFill>
        <p:spPr>
          <a:xfrm>
            <a:off x="8026756" y="3751142"/>
            <a:ext cx="3054200" cy="732231"/>
          </a:xfrm>
          <a:prstGeom prst="rect">
            <a:avLst/>
          </a:prstGeom>
        </p:spPr>
      </p:pic>
      <p:sp>
        <p:nvSpPr>
          <p:cNvPr id="9" name="TextBox 8">
            <a:extLst>
              <a:ext uri="{FF2B5EF4-FFF2-40B4-BE49-F238E27FC236}">
                <a16:creationId xmlns:a16="http://schemas.microsoft.com/office/drawing/2014/main" id="{E3F5A4F2-A72E-400B-EFDA-0662E09DF5AF}"/>
              </a:ext>
            </a:extLst>
          </p:cNvPr>
          <p:cNvSpPr txBox="1"/>
          <p:nvPr/>
        </p:nvSpPr>
        <p:spPr>
          <a:xfrm>
            <a:off x="7344697" y="4768645"/>
            <a:ext cx="3883742" cy="800219"/>
          </a:xfrm>
          <a:prstGeom prst="rect">
            <a:avLst/>
          </a:prstGeom>
          <a:noFill/>
        </p:spPr>
        <p:txBody>
          <a:bodyPr wrap="square" rtlCol="0">
            <a:spAutoFit/>
          </a:bodyPr>
          <a:lstStyle/>
          <a:p>
            <a:r>
              <a:rPr lang="en-US" sz="1600" b="1" dirty="0"/>
              <a:t>Supplier contributing the highest number of products to the inventory.</a:t>
            </a:r>
          </a:p>
          <a:p>
            <a:endParaRPr lang="en-IN" dirty="0"/>
          </a:p>
        </p:txBody>
      </p:sp>
    </p:spTree>
    <p:extLst>
      <p:ext uri="{BB962C8B-B14F-4D97-AF65-F5344CB8AC3E}">
        <p14:creationId xmlns:p14="http://schemas.microsoft.com/office/powerpoint/2010/main" val="398871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C7DD1-4FC7-E908-9BA0-514CA345E46A}"/>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5D29CCE1-9358-FE2F-E4C0-9C35A8E9F129}"/>
              </a:ext>
            </a:extLst>
          </p:cNvPr>
          <p:cNvSpPr>
            <a:spLocks noGrp="1"/>
          </p:cNvSpPr>
          <p:nvPr>
            <p:ph type="body" idx="1"/>
          </p:nvPr>
        </p:nvSpPr>
        <p:spPr>
          <a:xfrm>
            <a:off x="838200" y="1451811"/>
            <a:ext cx="10515600" cy="4725152"/>
          </a:xfrm>
        </p:spPr>
        <p:txBody>
          <a:bodyPr/>
          <a:lstStyle/>
          <a:p>
            <a:r>
              <a:rPr lang="en-IN" b="1" dirty="0"/>
              <a:t>Employee Handling Most Orders</a:t>
            </a:r>
          </a:p>
          <a:p>
            <a:endParaRPr lang="en-IN" b="1" dirty="0"/>
          </a:p>
        </p:txBody>
      </p:sp>
      <p:pic>
        <p:nvPicPr>
          <p:cNvPr id="7" name="Picture 6">
            <a:extLst>
              <a:ext uri="{FF2B5EF4-FFF2-40B4-BE49-F238E27FC236}">
                <a16:creationId xmlns:a16="http://schemas.microsoft.com/office/drawing/2014/main" id="{5D4612F6-728B-1725-7393-F7BD558705CD}"/>
              </a:ext>
            </a:extLst>
          </p:cNvPr>
          <p:cNvPicPr>
            <a:picLocks noChangeAspect="1"/>
          </p:cNvPicPr>
          <p:nvPr/>
        </p:nvPicPr>
        <p:blipFill>
          <a:blip r:embed="rId2"/>
          <a:stretch>
            <a:fillRect/>
          </a:stretch>
        </p:blipFill>
        <p:spPr>
          <a:xfrm>
            <a:off x="2196847" y="2892150"/>
            <a:ext cx="3241170" cy="2749090"/>
          </a:xfrm>
          <a:prstGeom prst="rect">
            <a:avLst/>
          </a:prstGeom>
        </p:spPr>
      </p:pic>
      <p:sp>
        <p:nvSpPr>
          <p:cNvPr id="8" name="TextBox 7">
            <a:extLst>
              <a:ext uri="{FF2B5EF4-FFF2-40B4-BE49-F238E27FC236}">
                <a16:creationId xmlns:a16="http://schemas.microsoft.com/office/drawing/2014/main" id="{E925EB49-4BFA-F987-E0B2-5434D0F935F4}"/>
              </a:ext>
            </a:extLst>
          </p:cNvPr>
          <p:cNvSpPr txBox="1"/>
          <p:nvPr/>
        </p:nvSpPr>
        <p:spPr>
          <a:xfrm>
            <a:off x="5690680" y="5097840"/>
            <a:ext cx="5410457" cy="800219"/>
          </a:xfrm>
          <a:prstGeom prst="rect">
            <a:avLst/>
          </a:prstGeom>
          <a:noFill/>
        </p:spPr>
        <p:txBody>
          <a:bodyPr wrap="square" rtlCol="0">
            <a:spAutoFit/>
          </a:bodyPr>
          <a:lstStyle/>
          <a:p>
            <a:r>
              <a:rPr lang="en-US" sz="1600" b="1" dirty="0"/>
              <a:t>Identifies the employee who handled the highest number of customer orders.</a:t>
            </a:r>
          </a:p>
          <a:p>
            <a:endParaRPr lang="en-IN" dirty="0"/>
          </a:p>
        </p:txBody>
      </p:sp>
      <p:pic>
        <p:nvPicPr>
          <p:cNvPr id="10" name="Picture 9">
            <a:extLst>
              <a:ext uri="{FF2B5EF4-FFF2-40B4-BE49-F238E27FC236}">
                <a16:creationId xmlns:a16="http://schemas.microsoft.com/office/drawing/2014/main" id="{0C645AF2-FD00-C485-783B-48AB1D309E86}"/>
              </a:ext>
            </a:extLst>
          </p:cNvPr>
          <p:cNvPicPr>
            <a:picLocks noChangeAspect="1"/>
          </p:cNvPicPr>
          <p:nvPr/>
        </p:nvPicPr>
        <p:blipFill>
          <a:blip r:embed="rId3"/>
          <a:stretch>
            <a:fillRect/>
          </a:stretch>
        </p:blipFill>
        <p:spPr>
          <a:xfrm>
            <a:off x="915390" y="2220140"/>
            <a:ext cx="4551555" cy="4093111"/>
          </a:xfrm>
          <a:prstGeom prst="rect">
            <a:avLst/>
          </a:prstGeom>
        </p:spPr>
      </p:pic>
      <p:pic>
        <p:nvPicPr>
          <p:cNvPr id="12" name="Picture 11">
            <a:extLst>
              <a:ext uri="{FF2B5EF4-FFF2-40B4-BE49-F238E27FC236}">
                <a16:creationId xmlns:a16="http://schemas.microsoft.com/office/drawing/2014/main" id="{2ABF63EF-FFB3-945D-C9CC-0E5C0B7D60D6}"/>
              </a:ext>
            </a:extLst>
          </p:cNvPr>
          <p:cNvPicPr>
            <a:picLocks noChangeAspect="1"/>
          </p:cNvPicPr>
          <p:nvPr/>
        </p:nvPicPr>
        <p:blipFill>
          <a:blip r:embed="rId4"/>
          <a:stretch>
            <a:fillRect/>
          </a:stretch>
        </p:blipFill>
        <p:spPr>
          <a:xfrm>
            <a:off x="6583192" y="1922629"/>
            <a:ext cx="4307589" cy="2919990"/>
          </a:xfrm>
          <a:prstGeom prst="rect">
            <a:avLst/>
          </a:prstGeom>
        </p:spPr>
      </p:pic>
    </p:spTree>
    <p:extLst>
      <p:ext uri="{BB962C8B-B14F-4D97-AF65-F5344CB8AC3E}">
        <p14:creationId xmlns:p14="http://schemas.microsoft.com/office/powerpoint/2010/main" val="912354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53261-217A-7AA9-08F3-EED88D3B78AD}"/>
              </a:ext>
            </a:extLst>
          </p:cNvPr>
          <p:cNvSpPr>
            <a:spLocks noGrp="1"/>
          </p:cNvSpPr>
          <p:nvPr>
            <p:ph type="title"/>
          </p:nvPr>
        </p:nvSpPr>
        <p:spPr/>
        <p:txBody>
          <a:bodyPr/>
          <a:lstStyle/>
          <a:p>
            <a:r>
              <a:rPr lang="en-US" b="1" dirty="0">
                <a:solidFill>
                  <a:srgbClr val="FF0000"/>
                </a:solidFill>
              </a:rPr>
              <a:t>Queries</a:t>
            </a:r>
            <a:endParaRPr lang="en-IN" b="1" dirty="0">
              <a:solidFill>
                <a:srgbClr val="FF0000"/>
              </a:solidFill>
            </a:endParaRPr>
          </a:p>
        </p:txBody>
      </p:sp>
      <p:sp>
        <p:nvSpPr>
          <p:cNvPr id="3" name="Text Placeholder 2">
            <a:extLst>
              <a:ext uri="{FF2B5EF4-FFF2-40B4-BE49-F238E27FC236}">
                <a16:creationId xmlns:a16="http://schemas.microsoft.com/office/drawing/2014/main" id="{4EAB9B70-09C9-0E58-1CDD-D009DA8D85F0}"/>
              </a:ext>
            </a:extLst>
          </p:cNvPr>
          <p:cNvSpPr>
            <a:spLocks noGrp="1"/>
          </p:cNvSpPr>
          <p:nvPr>
            <p:ph type="body" idx="1"/>
          </p:nvPr>
        </p:nvSpPr>
        <p:spPr>
          <a:xfrm>
            <a:off x="838200" y="1491916"/>
            <a:ext cx="10515600" cy="4685047"/>
          </a:xfrm>
        </p:spPr>
        <p:txBody>
          <a:bodyPr/>
          <a:lstStyle/>
          <a:p>
            <a:r>
              <a:rPr lang="en-US" b="1" dirty="0"/>
              <a:t>Average Quantity Ordered per Product</a:t>
            </a:r>
            <a:endParaRPr lang="en-IN" b="1" dirty="0"/>
          </a:p>
        </p:txBody>
      </p:sp>
      <p:pic>
        <p:nvPicPr>
          <p:cNvPr id="5" name="Picture 4">
            <a:extLst>
              <a:ext uri="{FF2B5EF4-FFF2-40B4-BE49-F238E27FC236}">
                <a16:creationId xmlns:a16="http://schemas.microsoft.com/office/drawing/2014/main" id="{2AA95E5E-4FD1-EBD7-25BC-AC35F7BF24AD}"/>
              </a:ext>
            </a:extLst>
          </p:cNvPr>
          <p:cNvPicPr>
            <a:picLocks noChangeAspect="1"/>
          </p:cNvPicPr>
          <p:nvPr/>
        </p:nvPicPr>
        <p:blipFill>
          <a:blip r:embed="rId2"/>
          <a:stretch>
            <a:fillRect/>
          </a:stretch>
        </p:blipFill>
        <p:spPr>
          <a:xfrm>
            <a:off x="1070876" y="2408509"/>
            <a:ext cx="3100071" cy="2627270"/>
          </a:xfrm>
          <a:prstGeom prst="rect">
            <a:avLst/>
          </a:prstGeom>
        </p:spPr>
      </p:pic>
      <p:sp>
        <p:nvSpPr>
          <p:cNvPr id="8" name="TextBox 7">
            <a:extLst>
              <a:ext uri="{FF2B5EF4-FFF2-40B4-BE49-F238E27FC236}">
                <a16:creationId xmlns:a16="http://schemas.microsoft.com/office/drawing/2014/main" id="{A64F2EAA-D900-F03D-4E13-750A3DE8AFB4}"/>
              </a:ext>
            </a:extLst>
          </p:cNvPr>
          <p:cNvSpPr txBox="1"/>
          <p:nvPr/>
        </p:nvSpPr>
        <p:spPr>
          <a:xfrm>
            <a:off x="5021179" y="5035779"/>
            <a:ext cx="5454316" cy="800219"/>
          </a:xfrm>
          <a:prstGeom prst="rect">
            <a:avLst/>
          </a:prstGeom>
          <a:noFill/>
        </p:spPr>
        <p:txBody>
          <a:bodyPr wrap="square" rtlCol="0">
            <a:spAutoFit/>
          </a:bodyPr>
          <a:lstStyle/>
          <a:p>
            <a:r>
              <a:rPr lang="en-US" sz="1600" b="1" dirty="0"/>
              <a:t>Identifies products priced higher than the average product price in the store.</a:t>
            </a:r>
          </a:p>
          <a:p>
            <a:endParaRPr lang="en-IN" dirty="0"/>
          </a:p>
        </p:txBody>
      </p:sp>
      <p:pic>
        <p:nvPicPr>
          <p:cNvPr id="6" name="Picture 5">
            <a:extLst>
              <a:ext uri="{FF2B5EF4-FFF2-40B4-BE49-F238E27FC236}">
                <a16:creationId xmlns:a16="http://schemas.microsoft.com/office/drawing/2014/main" id="{E9CFDA93-48C3-BD2B-A597-75C06034E7BF}"/>
              </a:ext>
            </a:extLst>
          </p:cNvPr>
          <p:cNvPicPr>
            <a:picLocks noChangeAspect="1"/>
          </p:cNvPicPr>
          <p:nvPr/>
        </p:nvPicPr>
        <p:blipFill>
          <a:blip r:embed="rId3"/>
          <a:stretch>
            <a:fillRect/>
          </a:stretch>
        </p:blipFill>
        <p:spPr>
          <a:xfrm>
            <a:off x="5824287" y="2345279"/>
            <a:ext cx="3848100" cy="2528278"/>
          </a:xfrm>
          <a:prstGeom prst="rect">
            <a:avLst/>
          </a:prstGeom>
        </p:spPr>
      </p:pic>
    </p:spTree>
    <p:extLst>
      <p:ext uri="{BB962C8B-B14F-4D97-AF65-F5344CB8AC3E}">
        <p14:creationId xmlns:p14="http://schemas.microsoft.com/office/powerpoint/2010/main" val="302781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4CC90-F1DA-4905-C4EA-8D7CD5E194BB}"/>
              </a:ext>
            </a:extLst>
          </p:cNvPr>
          <p:cNvSpPr>
            <a:spLocks noGrp="1"/>
          </p:cNvSpPr>
          <p:nvPr>
            <p:ph type="title"/>
          </p:nvPr>
        </p:nvSpPr>
        <p:spPr/>
        <p:txBody>
          <a:bodyPr/>
          <a:lstStyle/>
          <a:p>
            <a:r>
              <a:rPr lang="en-US" b="1" dirty="0">
                <a:solidFill>
                  <a:srgbClr val="FF0000"/>
                </a:solidFill>
              </a:rPr>
              <a:t>Recommendations</a:t>
            </a:r>
            <a:endParaRPr lang="en-IN" b="1" dirty="0">
              <a:solidFill>
                <a:srgbClr val="FF0000"/>
              </a:solidFill>
            </a:endParaRPr>
          </a:p>
        </p:txBody>
      </p:sp>
      <p:sp>
        <p:nvSpPr>
          <p:cNvPr id="3" name="Text Placeholder 2">
            <a:extLst>
              <a:ext uri="{FF2B5EF4-FFF2-40B4-BE49-F238E27FC236}">
                <a16:creationId xmlns:a16="http://schemas.microsoft.com/office/drawing/2014/main" id="{604EEE99-8945-F34A-1458-F6818236BA04}"/>
              </a:ext>
            </a:extLst>
          </p:cNvPr>
          <p:cNvSpPr>
            <a:spLocks noGrp="1"/>
          </p:cNvSpPr>
          <p:nvPr>
            <p:ph type="body" idx="1"/>
          </p:nvPr>
        </p:nvSpPr>
        <p:spPr/>
        <p:txBody>
          <a:bodyPr/>
          <a:lstStyle/>
          <a:p>
            <a:r>
              <a:rPr lang="en-US" dirty="0"/>
              <a:t>Focus on retaining high-value customers through loyalty programs.</a:t>
            </a:r>
          </a:p>
          <a:p>
            <a:r>
              <a:rPr lang="en-US" dirty="0"/>
              <a:t>Maintain higher inventory for top-selling products.</a:t>
            </a:r>
          </a:p>
          <a:p>
            <a:r>
              <a:rPr lang="en-US" dirty="0"/>
              <a:t>Increase promotions during high-sales periods.</a:t>
            </a:r>
          </a:p>
          <a:p>
            <a:r>
              <a:rPr lang="en-US" dirty="0"/>
              <a:t>Strengthen partnerships with high-performing suppliers.</a:t>
            </a:r>
          </a:p>
          <a:p>
            <a:r>
              <a:rPr lang="en-US" dirty="0"/>
              <a:t>Provide incentives for top-performing employees.</a:t>
            </a:r>
          </a:p>
          <a:p>
            <a:r>
              <a:rPr lang="en-US" dirty="0"/>
              <a:t>Monitor low-performing products and optimize pricing strategies</a:t>
            </a:r>
            <a:endParaRPr lang="en-IN" dirty="0"/>
          </a:p>
        </p:txBody>
      </p:sp>
    </p:spTree>
    <p:extLst>
      <p:ext uri="{BB962C8B-B14F-4D97-AF65-F5344CB8AC3E}">
        <p14:creationId xmlns:p14="http://schemas.microsoft.com/office/powerpoint/2010/main" val="3328431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53856-6B7E-3D6B-B4A2-960273A8F433}"/>
              </a:ext>
            </a:extLst>
          </p:cNvPr>
          <p:cNvSpPr>
            <a:spLocks noGrp="1"/>
          </p:cNvSpPr>
          <p:nvPr>
            <p:ph type="title"/>
          </p:nvPr>
        </p:nvSpPr>
        <p:spPr/>
        <p:txBody>
          <a:bodyPr/>
          <a:lstStyle/>
          <a:p>
            <a:r>
              <a:rPr lang="en-US" b="1" dirty="0">
                <a:solidFill>
                  <a:srgbClr val="FF0000"/>
                </a:solidFill>
              </a:rPr>
              <a:t>Conclusion</a:t>
            </a:r>
            <a:endParaRPr lang="en-IN" b="1" dirty="0">
              <a:solidFill>
                <a:srgbClr val="FF0000"/>
              </a:solidFill>
            </a:endParaRPr>
          </a:p>
        </p:txBody>
      </p:sp>
      <p:sp>
        <p:nvSpPr>
          <p:cNvPr id="3" name="Text Placeholder 2">
            <a:extLst>
              <a:ext uri="{FF2B5EF4-FFF2-40B4-BE49-F238E27FC236}">
                <a16:creationId xmlns:a16="http://schemas.microsoft.com/office/drawing/2014/main" id="{AA8192C9-2DE7-B8A2-3572-5F919EE5D080}"/>
              </a:ext>
            </a:extLst>
          </p:cNvPr>
          <p:cNvSpPr>
            <a:spLocks noGrp="1"/>
          </p:cNvSpPr>
          <p:nvPr>
            <p:ph type="body" idx="1"/>
          </p:nvPr>
        </p:nvSpPr>
        <p:spPr/>
        <p:txBody>
          <a:bodyPr/>
          <a:lstStyle/>
          <a:p>
            <a:r>
              <a:rPr lang="en-US" dirty="0"/>
              <a:t> Top customers contribute a significant portion of total revenue.</a:t>
            </a:r>
          </a:p>
          <a:p>
            <a:r>
              <a:rPr lang="en-US" dirty="0"/>
              <a:t> Certain products and categories consistently generate higher sales.</a:t>
            </a:r>
          </a:p>
          <a:p>
            <a:r>
              <a:rPr lang="en-US" dirty="0"/>
              <a:t> Weekday order volume is higher compared to weekends.</a:t>
            </a:r>
          </a:p>
          <a:p>
            <a:r>
              <a:rPr lang="en-US" dirty="0"/>
              <a:t> Some suppliers contribute more revenue than others.</a:t>
            </a:r>
          </a:p>
          <a:p>
            <a:r>
              <a:rPr lang="en-US" dirty="0"/>
              <a:t> Employee performance varies based on order handling and sales value.</a:t>
            </a:r>
            <a:endParaRPr lang="en-IN" dirty="0"/>
          </a:p>
        </p:txBody>
      </p:sp>
    </p:spTree>
    <p:extLst>
      <p:ext uri="{BB962C8B-B14F-4D97-AF65-F5344CB8AC3E}">
        <p14:creationId xmlns:p14="http://schemas.microsoft.com/office/powerpoint/2010/main" val="38229976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TotalTime>
  <Words>888</Words>
  <Application>Microsoft Office PowerPoint</Application>
  <PresentationFormat>Widescreen</PresentationFormat>
  <Paragraphs>101</Paragraphs>
  <Slides>20</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Lato Black</vt:lpstr>
      <vt:lpstr>Libre Baskerville</vt:lpstr>
      <vt:lpstr>Calibri</vt:lpstr>
      <vt:lpstr>Arial</vt:lpstr>
      <vt:lpstr>Office Theme</vt:lpstr>
      <vt:lpstr>PowerPoint Presentation</vt:lpstr>
      <vt:lpstr>PowerPoint Presentation</vt:lpstr>
      <vt:lpstr>Agenda   </vt:lpstr>
      <vt:lpstr>Business Problem</vt:lpstr>
      <vt:lpstr>Problem Statement</vt:lpstr>
      <vt:lpstr>Objective</vt:lpstr>
      <vt:lpstr>Introduction</vt:lpstr>
      <vt:lpstr>ER Diagram</vt:lpstr>
      <vt:lpstr>Data Schema Description</vt:lpstr>
      <vt:lpstr>Queries</vt:lpstr>
      <vt:lpstr>Queries</vt:lpstr>
      <vt:lpstr>Queries</vt:lpstr>
      <vt:lpstr>Queries</vt:lpstr>
      <vt:lpstr>Queries</vt:lpstr>
      <vt:lpstr>Queries</vt:lpstr>
      <vt:lpstr>Queries</vt:lpstr>
      <vt:lpstr>Queries</vt:lpstr>
      <vt:lpstr>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meghna p</cp:lastModifiedBy>
  <cp:revision>23</cp:revision>
  <dcterms:created xsi:type="dcterms:W3CDTF">2021-02-16T05:19:01Z</dcterms:created>
  <dcterms:modified xsi:type="dcterms:W3CDTF">2026-10-09T09:14:32Z</dcterms:modified>
</cp:coreProperties>
</file>